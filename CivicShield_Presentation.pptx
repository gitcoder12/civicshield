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C94A2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2D282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24128"/>
            <a:ext cx="109728" cy="109728"/>
          </a:xfrm>
          <a:prstGeom prst="ellipse">
            <a:avLst/>
          </a:prstGeom>
          <a:solidFill>
            <a:srgbClr val="E86040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969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— HYDERABAD REGION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CivicShield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6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Safety, Made Public.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reporting  ·  FSSAI verification  ·  Official inspector audits  ·  Dish safety ratings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1005840" cy="45720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Satvik (15)  ·  C Ajay (32)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6085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 Ratnanjali Tiwari  |  M.Tech CSE, Amity University Hyderabad  |  Mar 2026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818120" y="4370832"/>
            <a:ext cx="1005840" cy="457200"/>
          </a:xfrm>
          <a:prstGeom prst="rect">
            <a:avLst/>
          </a:prstGeom>
          <a:solidFill>
            <a:srgbClr val="C94A28">
              <a:alpha val="80000"/>
            </a:srgbClr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18120" y="45628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94960" y="3063240"/>
            <a:ext cx="822960" cy="868680"/>
          </a:xfrm>
          <a:prstGeom prst="rect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1089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327648" y="3063240"/>
            <a:ext cx="822960" cy="868680"/>
          </a:xfrm>
          <a:prstGeom prst="rect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31089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27648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260336" y="3063240"/>
            <a:ext cx="822960" cy="868680"/>
          </a:xfrm>
          <a:prstGeom prst="rect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31089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0336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8193024" y="3063240"/>
            <a:ext cx="822960" cy="868680"/>
          </a:xfrm>
          <a:prstGeom prst="rect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31089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93024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ICEDIP MODEL — PROJECT METHODOLOGY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64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CivicShield was built.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ICEDIP model provides a structured six-phase framework guiding the development of CivicShield from need identification to public deployment.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72768"/>
            <a:ext cx="2788920" cy="6400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700784"/>
            <a:ext cx="384048" cy="384048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7282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1737360"/>
            <a:ext cx="694944" cy="182880"/>
          </a:xfrm>
          <a:prstGeom prst="rect">
            <a:avLst/>
          </a:prstGeom>
          <a:solidFill>
            <a:srgbClr val="C94A2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359152" y="17465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94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512064" y="2139696"/>
            <a:ext cx="2542032" cy="9144"/>
          </a:xfrm>
          <a:prstGeom prst="rect">
            <a:avLst/>
          </a:prstGeom>
          <a:solidFill>
            <a:srgbClr val="E8DDD5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1945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Identified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245973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87,000+ annual food complaints in India. Citizens lack access to FSSAI data. No unified reporting channel exists.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10128" y="15727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572768"/>
            <a:ext cx="2788920" cy="6400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0" name="Shape 18"/>
          <p:cNvSpPr/>
          <p:nvPr/>
        </p:nvSpPr>
        <p:spPr>
          <a:xfrm>
            <a:off x="3438144" y="170078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1" name="Text 19"/>
          <p:cNvSpPr/>
          <p:nvPr/>
        </p:nvSpPr>
        <p:spPr>
          <a:xfrm>
            <a:off x="343814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17282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1737360"/>
            <a:ext cx="694944" cy="182880"/>
          </a:xfrm>
          <a:prstGeom prst="rect">
            <a:avLst/>
          </a:prstGeom>
          <a:solidFill>
            <a:srgbClr val="5B21B6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85232" y="17465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Data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3438144" y="2139696"/>
            <a:ext cx="2542032" cy="9144"/>
          </a:xfrm>
          <a:prstGeom prst="rect">
            <a:avLst/>
          </a:prstGeom>
          <a:solidFill>
            <a:srgbClr val="E8DDD5"/>
          </a:solidFill>
          <a:ln/>
        </p:spPr>
      </p:sp>
      <p:sp>
        <p:nvSpPr>
          <p:cNvPr id="26" name="Text 24"/>
          <p:cNvSpPr/>
          <p:nvPr/>
        </p:nvSpPr>
        <p:spPr>
          <a:xfrm>
            <a:off x="3438144" y="21945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Gathered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38144" y="245973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Open API (FOSCOS), real Hyderabad hotel names, inspector profiles, dish metadata and area boundaries.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36208" y="15727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6208" y="1572768"/>
            <a:ext cx="278892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4224" y="1700784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636422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17282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1737360"/>
            <a:ext cx="694944" cy="182880"/>
          </a:xfrm>
          <a:prstGeom prst="rect">
            <a:avLst/>
          </a:prstGeom>
          <a:solidFill>
            <a:srgbClr val="B45309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11312" y="17465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6364224" y="2139696"/>
            <a:ext cx="2542032" cy="9144"/>
          </a:xfrm>
          <a:prstGeom prst="rect">
            <a:avLst/>
          </a:prstGeom>
          <a:solidFill>
            <a:srgbClr val="E8DDD5"/>
          </a:solidFill>
          <a:ln/>
        </p:spPr>
      </p:sp>
      <p:sp>
        <p:nvSpPr>
          <p:cNvPr id="36" name="Text 34"/>
          <p:cNvSpPr/>
          <p:nvPr/>
        </p:nvSpPr>
        <p:spPr>
          <a:xfrm>
            <a:off x="6364224" y="21945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Options Assessed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64224" y="2459736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Zomato/Swiggy lack civic focus. No existing platform merges FSSAI, citizen reports and inspector audits in one view.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3291840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3291840"/>
            <a:ext cx="278892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0" name="Shape 38"/>
          <p:cNvSpPr/>
          <p:nvPr/>
        </p:nvSpPr>
        <p:spPr>
          <a:xfrm>
            <a:off x="512064" y="3419856"/>
            <a:ext cx="384048" cy="3840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34472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77440" y="3456432"/>
            <a:ext cx="694944" cy="182880"/>
          </a:xfrm>
          <a:prstGeom prst="rect">
            <a:avLst/>
          </a:prstGeom>
          <a:solidFill>
            <a:srgbClr val="0369A1">
              <a:alpha val="1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359152" y="34655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512064" y="3858768"/>
            <a:ext cx="2542032" cy="9144"/>
          </a:xfrm>
          <a:prstGeom prst="rect">
            <a:avLst/>
          </a:prstGeom>
          <a:solidFill>
            <a:srgbClr val="E8DDD5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" y="39136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Planned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2064" y="417880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PostgreSQL backend. Vanilla JS frontend. Dual reporting model (anonymous + official). FSSAI block per venue.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10128" y="3291840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310128" y="3291840"/>
            <a:ext cx="2788920" cy="640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0" name="Shape 48"/>
          <p:cNvSpPr/>
          <p:nvPr/>
        </p:nvSpPr>
        <p:spPr>
          <a:xfrm>
            <a:off x="3438144" y="3419856"/>
            <a:ext cx="384048" cy="384048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51" name="Text 49"/>
          <p:cNvSpPr/>
          <p:nvPr/>
        </p:nvSpPr>
        <p:spPr>
          <a:xfrm>
            <a:off x="3438144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886200" y="34472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03520" y="3456432"/>
            <a:ext cx="694944" cy="182880"/>
          </a:xfrm>
          <a:prstGeom prst="rect">
            <a:avLst/>
          </a:prstGeom>
          <a:solidFill>
            <a:srgbClr val="166534">
              <a:alpha val="1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285232" y="34655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3438144" y="3858768"/>
            <a:ext cx="2542032" cy="9144"/>
          </a:xfrm>
          <a:prstGeom prst="rect">
            <a:avLst/>
          </a:prstGeom>
          <a:solidFill>
            <a:srgbClr val="E8DDD5"/>
          </a:solidFill>
          <a:ln/>
        </p:spPr>
      </p:sp>
      <p:sp>
        <p:nvSpPr>
          <p:cNvPr id="56" name="Text 54"/>
          <p:cNvSpPr/>
          <p:nvPr/>
        </p:nvSpPr>
        <p:spPr>
          <a:xfrm>
            <a:off x="3438144" y="39136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Built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438144" y="417880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venues, 15 areas, dish ratings, area heatmap, chain branches, owner contacts. Full working browser demo.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36208" y="3291840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36208" y="3291840"/>
            <a:ext cx="2788920" cy="6400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0" name="Shape 58"/>
          <p:cNvSpPr/>
          <p:nvPr/>
        </p:nvSpPr>
        <p:spPr>
          <a:xfrm>
            <a:off x="6364224" y="3419856"/>
            <a:ext cx="384048" cy="384048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61" name="Text 59"/>
          <p:cNvSpPr/>
          <p:nvPr/>
        </p:nvSpPr>
        <p:spPr>
          <a:xfrm>
            <a:off x="6364224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812280" y="34472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229600" y="3456432"/>
            <a:ext cx="694944" cy="182880"/>
          </a:xfrm>
          <a:prstGeom prst="rect">
            <a:avLst/>
          </a:prstGeom>
          <a:solidFill>
            <a:srgbClr val="1C1917">
              <a:alpha val="1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211312" y="34655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6364224" y="3858768"/>
            <a:ext cx="2542032" cy="9144"/>
          </a:xfrm>
          <a:prstGeom prst="rect">
            <a:avLst/>
          </a:prstGeom>
          <a:solidFill>
            <a:srgbClr val="E8DDD5"/>
          </a:solidFill>
          <a:ln/>
        </p:spPr>
      </p:sp>
      <p:sp>
        <p:nvSpPr>
          <p:cNvPr id="66" name="Text 64"/>
          <p:cNvSpPr/>
          <p:nvPr/>
        </p:nvSpPr>
        <p:spPr>
          <a:xfrm>
            <a:off x="6364224" y="39136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&amp; Scaled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364224" y="417880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poster presentation, AUH Mar 2026. GitHub push. Roadmap to Flask API, India-wide city selector, mobile app.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64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food safety crisis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invisible to citizens.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66360" y="594360"/>
            <a:ext cx="3703320" cy="1115568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65836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87,000+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212080" y="12070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complaints in India in 2023 — fewer than 2% resolved publicly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83664"/>
            <a:ext cx="2651760" cy="6400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Transparency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inspection results are not accessible to citizens. You cannot verify a restaurant's real safety record before eating.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883664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883664"/>
            <a:ext cx="2651760" cy="6400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Violations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adulteration, pest infestations, and hygiene failures go unreported — no easy citizen reporting channel exists.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883664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883664"/>
            <a:ext cx="2651760" cy="6400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Disconnected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audits, license status, and community complaints exist in separate silos with no unified public view.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C94A2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food safety.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822960" cy="45720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38528"/>
            <a:ext cx="54864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FSSAI Verification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14-digit license lookup and validity status per venue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4864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Reporting 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citizen checklist + named official inspector audits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54864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Dish Safety Ratings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dishes, healthy picks, and must-try items per establishment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1938528"/>
            <a:ext cx="54864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Branch Tracking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ranked — best branch badge auto-awarded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92040" y="2926080"/>
            <a:ext cx="54864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Safety Heatmap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map of 15 Hyderabad areas, click to filter instantly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3913632"/>
            <a:ext cx="54864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 Contact Details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contact info for every listed establishment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64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2179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621792"/>
            <a:ext cx="2697480" cy="475488"/>
          </a:xfrm>
          <a:prstGeom prst="rect">
            <a:avLst/>
          </a:prstGeom>
          <a:solidFill>
            <a:srgbClr val="E8604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766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90525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Vanilla JS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1792" y="1325880"/>
            <a:ext cx="91440" cy="91440"/>
          </a:xfrm>
          <a:prstGeom prst="ellipse">
            <a:avLst/>
          </a:prstGeom>
          <a:solidFill>
            <a:srgbClr val="E8604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289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(no build step)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1911096"/>
            <a:ext cx="91440" cy="91440"/>
          </a:xfrm>
          <a:prstGeom prst="ellipse">
            <a:avLst/>
          </a:prstGeom>
          <a:solidFill>
            <a:srgbClr val="E8604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sort, heatmap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496312"/>
            <a:ext cx="91440" cy="91440"/>
          </a:xfrm>
          <a:prstGeom prst="ellipse">
            <a:avLst/>
          </a:prstGeom>
          <a:solidFill>
            <a:srgbClr val="E8604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score bars &amp; cards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081528"/>
            <a:ext cx="91440" cy="91440"/>
          </a:xfrm>
          <a:prstGeom prst="ellipse">
            <a:avLst/>
          </a:prstGeom>
          <a:solidFill>
            <a:srgbClr val="E8604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Montserrat + Syne fonts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" y="3666744"/>
            <a:ext cx="91440" cy="91440"/>
          </a:xfrm>
          <a:prstGeom prst="ellipse">
            <a:avLst/>
          </a:prstGeom>
          <a:solidFill>
            <a:srgbClr val="E8604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static site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64992" y="62179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64992" y="621792"/>
            <a:ext cx="2697480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6766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(Flask)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90525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529584" y="1325880"/>
            <a:ext cx="91440" cy="91440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25" name="Text 23"/>
          <p:cNvSpPr/>
          <p:nvPr/>
        </p:nvSpPr>
        <p:spPr>
          <a:xfrm>
            <a:off x="3685032" y="1289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/api/hotels endpoint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29584" y="1911096"/>
            <a:ext cx="91440" cy="91440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27" name="Text 25"/>
          <p:cNvSpPr/>
          <p:nvPr/>
        </p:nvSpPr>
        <p:spPr>
          <a:xfrm>
            <a:off x="3685032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/api/reports endpoint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29584" y="2496312"/>
            <a:ext cx="91440" cy="91440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29" name="Text 27"/>
          <p:cNvSpPr/>
          <p:nvPr/>
        </p:nvSpPr>
        <p:spPr>
          <a:xfrm>
            <a:off x="3685032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data integration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9584" y="3081528"/>
            <a:ext cx="91440" cy="91440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31" name="Text 29"/>
          <p:cNvSpPr/>
          <p:nvPr/>
        </p:nvSpPr>
        <p:spPr>
          <a:xfrm>
            <a:off x="3685032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 engine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29584" y="3666744"/>
            <a:ext cx="91440" cy="91440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33" name="Text 31"/>
          <p:cNvSpPr/>
          <p:nvPr/>
        </p:nvSpPr>
        <p:spPr>
          <a:xfrm>
            <a:off x="3685032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moderation queue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72784" y="62179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72784" y="621792"/>
            <a:ext cx="2697480" cy="47548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6766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82512" y="90525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PostgreSQL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437376" y="1325880"/>
            <a:ext cx="91440" cy="9144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39" name="Text 37"/>
          <p:cNvSpPr/>
          <p:nvPr/>
        </p:nvSpPr>
        <p:spPr>
          <a:xfrm>
            <a:off x="6592824" y="1289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venues (Hyderabad demo)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37376" y="1911096"/>
            <a:ext cx="91440" cy="9144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41" name="Text 39"/>
          <p:cNvSpPr/>
          <p:nvPr/>
        </p:nvSpPr>
        <p:spPr>
          <a:xfrm>
            <a:off x="6592824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Open API (FOSCOS)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37376" y="2496312"/>
            <a:ext cx="91440" cy="9144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43" name="Text 41"/>
          <p:cNvSpPr/>
          <p:nvPr/>
        </p:nvSpPr>
        <p:spPr>
          <a:xfrm>
            <a:off x="6592824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inspector records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7376" y="3081528"/>
            <a:ext cx="91440" cy="9144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45" name="Text 43"/>
          <p:cNvSpPr/>
          <p:nvPr/>
        </p:nvSpPr>
        <p:spPr>
          <a:xfrm>
            <a:off x="6592824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 storage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37376" y="3666744"/>
            <a:ext cx="91440" cy="9144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47" name="Text 45"/>
          <p:cNvSpPr/>
          <p:nvPr/>
        </p:nvSpPr>
        <p:spPr>
          <a:xfrm>
            <a:off x="6592824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&amp; owner metadata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Flask · HTML/CSS/JS · PostgreSQL · FSSAI FOSCOS API (foscos.fssai.gov.in)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real civic impact.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60520" cy="1170432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4160520" cy="5486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207008"/>
            <a:ext cx="1005840" cy="210312"/>
          </a:xfrm>
          <a:prstGeom prst="rect">
            <a:avLst/>
          </a:prstGeom>
          <a:solidFill>
            <a:srgbClr val="C94A28">
              <a:alpha val="2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56432" y="12252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4360" y="1225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FSSAI License Lookup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14-digit license number and validity displayed publicly. Expired = red warning. Unregistered = flagged.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115568"/>
            <a:ext cx="4160520" cy="1170432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15568"/>
            <a:ext cx="4160520" cy="5486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1207008"/>
            <a:ext cx="1005840" cy="210312"/>
          </a:xfrm>
          <a:prstGeom prst="rect">
            <a:avLst/>
          </a:prstGeom>
          <a:solidFill>
            <a:srgbClr val="C94A28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45552" y="12252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983480" y="1225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Anonymous Citizen Reports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152704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11-item hygiene checklist. Adulteration and poisoning flags trigger public alerts and authority notification.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160520" cy="1170432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95728"/>
            <a:ext cx="4160520" cy="5486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487168"/>
            <a:ext cx="1005840" cy="210312"/>
          </a:xfrm>
          <a:prstGeom prst="rect">
            <a:avLst/>
          </a:prstGeom>
          <a:solidFill>
            <a:srgbClr val="C94A28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505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94360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Official Inspector Audit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280720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FSSAI officer submits formal audit with verdict. Full attribution — inspector ID shown publicly.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2395728"/>
            <a:ext cx="4160520" cy="1170432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95728"/>
            <a:ext cx="4160520" cy="5486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2487168"/>
            <a:ext cx="1005840" cy="210312"/>
          </a:xfrm>
          <a:prstGeom prst="rect">
            <a:avLst/>
          </a:prstGeom>
          <a:solidFill>
            <a:srgbClr val="C94A28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845552" y="2505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983480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Dish Recommendations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280720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dishes, healthy options, and popular picks. Citizens can search by dish name across all venues.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675888"/>
            <a:ext cx="4160520" cy="1170432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75888"/>
            <a:ext cx="4160520" cy="5486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3767328"/>
            <a:ext cx="1005840" cy="210312"/>
          </a:xfrm>
          <a:prstGeom prst="rect">
            <a:avLst/>
          </a:prstGeom>
          <a:solidFill>
            <a:srgbClr val="C94A28">
              <a:alpha val="2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37856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94360" y="3785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Safety Heatmap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408736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areas color-coded by average safety score. One click filters the entire venue directory by area.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3675888"/>
            <a:ext cx="4160520" cy="1170432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675888"/>
            <a:ext cx="4160520" cy="5486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3840" y="3767328"/>
            <a:ext cx="1005840" cy="210312"/>
          </a:xfrm>
          <a:prstGeom prst="rect">
            <a:avLst/>
          </a:prstGeom>
          <a:solidFill>
            <a:srgbClr val="C94A28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845552" y="37856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983480" y="3785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Branch Ranking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83480" y="408736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of a chain sorted by score. Best branch badge auto-awarded. Drives chain accountability.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COVERAGE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64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594360"/>
            <a:ext cx="2011680" cy="6400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04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4A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Listed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33472" y="59436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594360"/>
            <a:ext cx="2011680" cy="6400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704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633472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Areas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9744" y="59436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594360"/>
            <a:ext cx="2011680" cy="640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704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65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09744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Verified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86016" y="59436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6016" y="594360"/>
            <a:ext cx="2011680" cy="6400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0" name="Text 18"/>
          <p:cNvSpPr/>
          <p:nvPr/>
        </p:nvSpPr>
        <p:spPr>
          <a:xfrm>
            <a:off x="6986016" y="704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730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986016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Areas covered across Hyderabad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212080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Specialties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Banjara Hills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High-end restaurants, bakeries, fine dining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Jubilee Hills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dining, cafes, sweets, coastal food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Hitech City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corridor, fast food, multi-cuisine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Gachibowli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park venues, health food, seafood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Kukatpally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restaurants, bakeries, biryani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Charminar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Irani cafes, haleem, biryani, sweets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Ameerpet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Indian, student mess, dhabas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Secunderabad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Bakeries, biryani, small hotels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Begumpet + 6 more areas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94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C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Continental, street food, kebabs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943600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Distribution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24688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 Good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943600" y="2743200"/>
            <a:ext cx="2880360" cy="274320"/>
          </a:xfrm>
          <a:prstGeom prst="rect">
            <a:avLst/>
          </a:prstGeom>
          <a:solidFill>
            <a:srgbClr val="F5EBE0"/>
          </a:solidFill>
          <a:ln/>
        </p:spPr>
      </p:sp>
      <p:sp>
        <p:nvSpPr>
          <p:cNvPr id="27" name="Shape 24"/>
          <p:cNvSpPr/>
          <p:nvPr/>
        </p:nvSpPr>
        <p:spPr>
          <a:xfrm>
            <a:off x="5943600" y="2743200"/>
            <a:ext cx="1958645" cy="2743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8" name="Text 25"/>
          <p:cNvSpPr/>
          <p:nvPr/>
        </p:nvSpPr>
        <p:spPr>
          <a:xfrm>
            <a:off x="7957109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943600" y="32186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 Caution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0" y="3493008"/>
            <a:ext cx="2880360" cy="274320"/>
          </a:xfrm>
          <a:prstGeom prst="rect">
            <a:avLst/>
          </a:prstGeom>
          <a:solidFill>
            <a:srgbClr val="F5EBE0"/>
          </a:solidFill>
          <a:ln/>
        </p:spPr>
      </p:sp>
      <p:sp>
        <p:nvSpPr>
          <p:cNvPr id="31" name="Shape 28"/>
          <p:cNvSpPr/>
          <p:nvPr/>
        </p:nvSpPr>
        <p:spPr>
          <a:xfrm>
            <a:off x="5943600" y="3493008"/>
            <a:ext cx="518465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29"/>
          <p:cNvSpPr/>
          <p:nvPr/>
        </p:nvSpPr>
        <p:spPr>
          <a:xfrm>
            <a:off x="6516929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943600" y="396849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0–59 High Risk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43600" y="4242816"/>
            <a:ext cx="2880360" cy="274320"/>
          </a:xfrm>
          <a:prstGeom prst="rect">
            <a:avLst/>
          </a:prstGeom>
          <a:solidFill>
            <a:srgbClr val="F5EBE0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3600" y="4242816"/>
            <a:ext cx="40325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Text 33"/>
          <p:cNvSpPr/>
          <p:nvPr/>
        </p:nvSpPr>
        <p:spPr>
          <a:xfrm>
            <a:off x="6401714" y="4242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report to resolution.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86384" y="1078992"/>
            <a:ext cx="841248" cy="841248"/>
          </a:xfrm>
          <a:prstGeom prst="ellipse">
            <a:avLst/>
          </a:prstGeom>
          <a:solidFill>
            <a:srgbClr val="C94A28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097280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27632" y="1463040"/>
            <a:ext cx="457200" cy="45720"/>
          </a:xfrm>
          <a:prstGeom prst="rect">
            <a:avLst/>
          </a:prstGeom>
          <a:solidFill>
            <a:srgbClr val="C94A28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029968"/>
            <a:ext cx="1664208" cy="27432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1214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Venue Listed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468880"/>
            <a:ext cx="14813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added with FSSAI number, cuisine, area type, and owner contact details.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1078992"/>
            <a:ext cx="841248" cy="841248"/>
          </a:xfrm>
          <a:prstGeom prst="ellipse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097280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457200" cy="45720"/>
          </a:xfrm>
          <a:prstGeom prst="rect">
            <a:avLst/>
          </a:prstGeom>
          <a:solidFill>
            <a:srgbClr val="C94A28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03120" y="2029968"/>
            <a:ext cx="1664208" cy="27432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1214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Citizen Reports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468880"/>
            <a:ext cx="14813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11-item hygiene checklist. Adulteration flags trigger public alerts.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078992"/>
            <a:ext cx="841248" cy="841248"/>
          </a:xfrm>
          <a:prstGeom prst="ellipse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097280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38928" y="1463040"/>
            <a:ext cx="457200" cy="45720"/>
          </a:xfrm>
          <a:prstGeom prst="rect">
            <a:avLst/>
          </a:prstGeom>
          <a:solidFill>
            <a:srgbClr val="C94A28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58768" y="2029968"/>
            <a:ext cx="1664208" cy="27432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21214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 Audit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50208" y="2468880"/>
            <a:ext cx="14813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FSSAI officer submits audit with verdict. Fully attributed — no anonymity.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53328" y="1078992"/>
            <a:ext cx="841248" cy="841248"/>
          </a:xfrm>
          <a:prstGeom prst="ellipse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1097280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94576" y="1463040"/>
            <a:ext cx="457200" cy="45720"/>
          </a:xfrm>
          <a:prstGeom prst="rect">
            <a:avLst/>
          </a:prstGeom>
          <a:solidFill>
            <a:srgbClr val="C94A28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614416" y="2029968"/>
            <a:ext cx="1664208" cy="27432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21214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Updated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05856" y="2468880"/>
            <a:ext cx="14813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recalculated from audit verdict, checklists, and report volume.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08976" y="1078992"/>
            <a:ext cx="841248" cy="841248"/>
          </a:xfrm>
          <a:prstGeom prst="ellipse">
            <a:avLst/>
          </a:prstGeom>
          <a:solidFill>
            <a:srgbClr val="2D2825"/>
          </a:solidFill>
          <a:ln w="12700">
            <a:solidFill>
              <a:srgbClr val="C94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08976" y="1097280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70064" y="2029968"/>
            <a:ext cx="1664208" cy="27432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21214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Exposure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61504" y="2468880"/>
            <a:ext cx="14813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live on directory. High-risk venues flagged. Authorities notified in 24h.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FSSAI INTEGRATION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47548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64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license data,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guesswork.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54864" cy="42062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9222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(Food Safety &amp; Standards Authority of India) mandates all food establishments to register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54864" cy="42062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0545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CivicShield shows the 14-digit license number and current validity status for every venue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54864" cy="42062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186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or unregistered venues flagged in red — visible to all citizens browsing the directory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4864" cy="420624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FOSCOS Open API enables real-time license verification at India-wide scale (foscos.fssai.gov.in)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621792"/>
            <a:ext cx="3749040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621792"/>
            <a:ext cx="3749040" cy="640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740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FSSAI Active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10519022001001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280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valid · registered with FSSAI India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740664"/>
            <a:ext cx="640080" cy="237744"/>
          </a:xfrm>
          <a:prstGeom prst="rect">
            <a:avLst/>
          </a:prstGeom>
          <a:solidFill>
            <a:srgbClr val="166534">
              <a:alpha val="8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119872" y="749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166360" y="2084832"/>
            <a:ext cx="3749040" cy="1325880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66360" y="2084832"/>
            <a:ext cx="374904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2203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FSSAI Expired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10519022007005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expired — renewal required urgently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38160" y="2203704"/>
            <a:ext cx="640080" cy="237744"/>
          </a:xfrm>
          <a:prstGeom prst="rect">
            <a:avLst/>
          </a:prstGeom>
          <a:solidFill>
            <a:srgbClr val="B45309">
              <a:alpha val="8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22128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166360" y="3547872"/>
            <a:ext cx="3749040" cy="1325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1C191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66360" y="3547872"/>
            <a:ext cx="374904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Registered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3950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license on record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without mandatory food safety registration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38160" y="3666744"/>
            <a:ext cx="640080" cy="237744"/>
          </a:xfrm>
          <a:prstGeom prst="rect">
            <a:avLst/>
          </a:prstGeom>
          <a:solidFill>
            <a:srgbClr val="C62828">
              <a:alpha val="8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119872" y="3675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C94A28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Hyderabad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India to the World.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2029968" cy="32004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64208"/>
            <a:ext cx="2029968" cy="64008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64792"/>
            <a:ext cx="822960" cy="228600"/>
          </a:xfrm>
          <a:prstGeom prst="rect">
            <a:avLst/>
          </a:prstGeom>
          <a:solidFill>
            <a:srgbClr val="C94A28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773936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4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26464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✓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Hyderabad Demo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82296" cy="82296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venues, 15 areas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82296" cy="82296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HTML, zero server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82296" cy="82296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 live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4224528"/>
            <a:ext cx="82296" cy="82296"/>
          </a:xfrm>
          <a:prstGeom prst="ellipse">
            <a:avLst/>
          </a:prstGeom>
          <a:solidFill>
            <a:srgbClr val="C94A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data integrated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33472" y="1664208"/>
            <a:ext cx="2029968" cy="32004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1664208"/>
            <a:ext cx="2029968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2724912" y="1764792"/>
            <a:ext cx="822960" cy="228600"/>
          </a:xfrm>
          <a:prstGeom prst="rect">
            <a:avLst/>
          </a:prstGeom>
          <a:solidFill>
            <a:srgbClr val="B45309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06624" y="1773936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02736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24912" y="20665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+ PostgreSQL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70632" y="2523744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2907792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selector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70632" y="3090672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2907792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70632" y="3657600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2907792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FOSCOS API live pull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70632" y="4224528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2" name="Text 30"/>
          <p:cNvSpPr/>
          <p:nvPr/>
        </p:nvSpPr>
        <p:spPr>
          <a:xfrm>
            <a:off x="2907792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queue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9744" y="1664208"/>
            <a:ext cx="2029968" cy="32004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9744" y="1664208"/>
            <a:ext cx="2029968" cy="640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5" name="Shape 33"/>
          <p:cNvSpPr/>
          <p:nvPr/>
        </p:nvSpPr>
        <p:spPr>
          <a:xfrm>
            <a:off x="4901184" y="1764792"/>
            <a:ext cx="822960" cy="228600"/>
          </a:xfrm>
          <a:prstGeom prst="rect">
            <a:avLst/>
          </a:prstGeom>
          <a:solidFill>
            <a:srgbClr val="166534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82896" y="1773936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79008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01184" y="20665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India-wide Scale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46904" y="2523744"/>
            <a:ext cx="82296" cy="8229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0" name="Text 38"/>
          <p:cNvSpPr/>
          <p:nvPr/>
        </p:nvSpPr>
        <p:spPr>
          <a:xfrm>
            <a:off x="5084064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 cities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46904" y="3090672"/>
            <a:ext cx="82296" cy="8229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5084064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data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46904" y="3657600"/>
            <a:ext cx="82296" cy="8229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4" name="Text 42"/>
          <p:cNvSpPr/>
          <p:nvPr/>
        </p:nvSpPr>
        <p:spPr>
          <a:xfrm>
            <a:off x="5084064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Zomato/Swiggy import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46904" y="4224528"/>
            <a:ext cx="82296" cy="8229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6" name="Text 44"/>
          <p:cNvSpPr/>
          <p:nvPr/>
        </p:nvSpPr>
        <p:spPr>
          <a:xfrm>
            <a:off x="5084064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86016" y="1664208"/>
            <a:ext cx="2029968" cy="320040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86016" y="1664208"/>
            <a:ext cx="2029968" cy="6400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9" name="Shape 47"/>
          <p:cNvSpPr/>
          <p:nvPr/>
        </p:nvSpPr>
        <p:spPr>
          <a:xfrm>
            <a:off x="7077456" y="1764792"/>
            <a:ext cx="822960" cy="228600"/>
          </a:xfrm>
          <a:prstGeom prst="rect">
            <a:avLst/>
          </a:prstGeom>
          <a:solidFill>
            <a:srgbClr val="3730A3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059168" y="1773936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955280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077456" y="20665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Platform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123176" y="2523744"/>
            <a:ext cx="82296" cy="822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54" name="Text 52"/>
          <p:cNvSpPr/>
          <p:nvPr/>
        </p:nvSpPr>
        <p:spPr>
          <a:xfrm>
            <a:off x="7260336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(USA), FSA (UK)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23176" y="3090672"/>
            <a:ext cx="82296" cy="822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56" name="Text 54"/>
          <p:cNvSpPr/>
          <p:nvPr/>
        </p:nvSpPr>
        <p:spPr>
          <a:xfrm>
            <a:off x="7260336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123176" y="3657600"/>
            <a:ext cx="82296" cy="822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58" name="Text 56"/>
          <p:cNvSpPr/>
          <p:nvPr/>
        </p:nvSpPr>
        <p:spPr>
          <a:xfrm>
            <a:off x="7260336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violation detection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123176" y="4224528"/>
            <a:ext cx="82296" cy="822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60" name="Text 58"/>
          <p:cNvSpPr/>
          <p:nvPr/>
        </p:nvSpPr>
        <p:spPr>
          <a:xfrm>
            <a:off x="7260336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inspector SaaS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C94A2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33088"/>
            <a:ext cx="9144000" cy="1010412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8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CivicShield gives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safety a public face.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4096512" cy="100584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54864" cy="1005840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Citizens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where it is safe to eat. Report violations anonymously in minutes.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64608" y="1755648"/>
            <a:ext cx="4096512" cy="100584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755648"/>
            <a:ext cx="54864" cy="1005840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2" name="Text 10"/>
          <p:cNvSpPr/>
          <p:nvPr/>
        </p:nvSpPr>
        <p:spPr>
          <a:xfrm>
            <a:off x="5047488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FSSAI Inspectors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47488" y="215798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attributed official audits with public verdicts. Deter corrupt practices.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4096512" cy="100584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98648"/>
            <a:ext cx="54864" cy="1005840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90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Authorities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330098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consolidated flagged violation reports within 24 hours for immediate action.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64608" y="2898648"/>
            <a:ext cx="4096512" cy="1005840"/>
          </a:xfrm>
          <a:prstGeom prst="rect">
            <a:avLst/>
          </a:prstGeom>
          <a:solidFill>
            <a:srgbClr val="2D2825"/>
          </a:solidFill>
          <a:ln w="12700">
            <a:solidFill>
              <a:srgbClr val="3D36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2898648"/>
            <a:ext cx="54864" cy="1005840"/>
          </a:xfrm>
          <a:prstGeom prst="rect">
            <a:avLst/>
          </a:prstGeom>
          <a:solidFill>
            <a:srgbClr val="C94A28"/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2990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Establishment Owners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330098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Incentivized to maintain hygiene and register when scores are publicly visible.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42153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CivicShield  —  Open Source · Extendable · Built for India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github.com/gitcoder12   |   M.Tech CSE, Amity University Hyderabad   |   Dr Ratnanjali Tiwari  ·  D Satvik (15)  ·  C Ajay (32)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CivicShield — Hyderabad Food Safety Platform</dc:title>
  <dc:subject>PptxGenJS Presentation</dc:subject>
  <dc:creator>PptxGenJS</dc:creator>
  <cp:lastModifiedBy>PptxGenJS</cp:lastModifiedBy>
  <cp:revision>1</cp:revision>
  <dcterms:created xsi:type="dcterms:W3CDTF">2026-03-29T15:07:34Z</dcterms:created>
  <dcterms:modified xsi:type="dcterms:W3CDTF">2026-03-29T15:07:34Z</dcterms:modified>
</cp:coreProperties>
</file>